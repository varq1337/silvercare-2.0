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045" autoAdjust="0"/>
  </p:normalViewPr>
  <p:slideViewPr>
    <p:cSldViewPr snapToGrid="0" snapToObjects="1">
      <p:cViewPr varScale="1">
        <p:scale>
          <a:sx n="86" d="100"/>
          <a:sy n="86" d="100"/>
        </p:scale>
        <p:origin x="1043" y="6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44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Вы</a:t>
            </a:r>
            <a:r>
              <a:rPr dirty="0"/>
              <a:t> </a:t>
            </a:r>
            <a:r>
              <a:rPr dirty="0" err="1"/>
              <a:t>когда-нибудь</a:t>
            </a:r>
            <a:r>
              <a:rPr dirty="0"/>
              <a:t> </a:t>
            </a:r>
            <a:r>
              <a:rPr dirty="0" err="1"/>
              <a:t>стояли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таблеткой</a:t>
            </a:r>
            <a:r>
              <a:rPr dirty="0"/>
              <a:t>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могли</a:t>
            </a:r>
            <a:r>
              <a:rPr dirty="0"/>
              <a:t> </a:t>
            </a:r>
            <a:r>
              <a:rPr dirty="0" err="1"/>
              <a:t>вспомнить</a:t>
            </a:r>
            <a:r>
              <a:rPr dirty="0"/>
              <a:t>: </a:t>
            </a:r>
            <a:r>
              <a:rPr dirty="0" err="1"/>
              <a:t>приняли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?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человека</a:t>
            </a:r>
            <a:r>
              <a:rPr dirty="0"/>
              <a:t> с </a:t>
            </a:r>
            <a:r>
              <a:rPr dirty="0" err="1"/>
              <a:t>несколькими</a:t>
            </a:r>
            <a:r>
              <a:rPr dirty="0"/>
              <a:t> </a:t>
            </a:r>
            <a:r>
              <a:rPr dirty="0" err="1"/>
              <a:t>препаратами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вопрос</a:t>
            </a:r>
            <a:r>
              <a:rPr dirty="0"/>
              <a:t> </a:t>
            </a:r>
            <a:r>
              <a:rPr dirty="0" err="1"/>
              <a:t>каждого</a:t>
            </a:r>
            <a:r>
              <a:rPr dirty="0"/>
              <a:t> </a:t>
            </a:r>
            <a:r>
              <a:rPr dirty="0" err="1"/>
              <a:t>дня</a:t>
            </a:r>
            <a:r>
              <a:rPr dirty="0"/>
              <a:t>. </a:t>
            </a:r>
            <a:r>
              <a:rPr dirty="0" err="1"/>
              <a:t>Мы</a:t>
            </a:r>
            <a:r>
              <a:rPr dirty="0"/>
              <a:t> —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SilverCare</a:t>
            </a:r>
            <a:r>
              <a:rPr dirty="0"/>
              <a:t>, и </a:t>
            </a:r>
            <a:r>
              <a:rPr dirty="0" err="1"/>
              <a:t>за</a:t>
            </a:r>
            <a:r>
              <a:rPr dirty="0"/>
              <a:t> 2</a:t>
            </a:r>
            <a:r>
              <a:rPr lang="ru-RU" dirty="0"/>
              <a:t>4</a:t>
            </a:r>
            <a:r>
              <a:rPr dirty="0"/>
              <a:t> </a:t>
            </a:r>
            <a:r>
              <a:rPr dirty="0" err="1"/>
              <a:t>час</a:t>
            </a:r>
            <a:r>
              <a:rPr lang="ru-RU" dirty="0"/>
              <a:t>а</a:t>
            </a:r>
            <a:r>
              <a:rPr dirty="0"/>
              <a:t>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сделали</a:t>
            </a:r>
            <a:r>
              <a:rPr dirty="0"/>
              <a:t> </a:t>
            </a:r>
            <a:r>
              <a:rPr dirty="0" err="1"/>
              <a:t>прототип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него</a:t>
            </a:r>
            <a:r>
              <a:rPr dirty="0"/>
              <a:t> </a:t>
            </a:r>
            <a:r>
              <a:rPr dirty="0" err="1"/>
              <a:t>одним</a:t>
            </a:r>
            <a:r>
              <a:rPr dirty="0"/>
              <a:t> </a:t>
            </a:r>
            <a:r>
              <a:rPr dirty="0" err="1"/>
              <a:t>взглядом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экран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Понимание</a:t>
            </a:r>
            <a:r>
              <a:rPr dirty="0"/>
              <a:t> </a:t>
            </a:r>
            <a:r>
              <a:rPr dirty="0" err="1"/>
              <a:t>проблемы</a:t>
            </a:r>
            <a:r>
              <a:rPr dirty="0"/>
              <a:t>] </a:t>
            </a:r>
            <a:r>
              <a:rPr dirty="0" err="1"/>
              <a:t>Обычного</a:t>
            </a:r>
            <a:r>
              <a:rPr dirty="0"/>
              <a:t> </a:t>
            </a:r>
            <a:r>
              <a:rPr dirty="0" err="1"/>
              <a:t>напоминания</a:t>
            </a:r>
            <a:r>
              <a:rPr dirty="0"/>
              <a:t> </a:t>
            </a:r>
            <a:r>
              <a:rPr dirty="0" err="1"/>
              <a:t>мало</a:t>
            </a:r>
            <a:r>
              <a:rPr dirty="0"/>
              <a:t>. </a:t>
            </a:r>
            <a:r>
              <a:rPr dirty="0" err="1"/>
              <a:t>Человеку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какой</a:t>
            </a:r>
            <a:r>
              <a:rPr dirty="0"/>
              <a:t> </a:t>
            </a:r>
            <a:r>
              <a:rPr dirty="0" err="1"/>
              <a:t>препарат</a:t>
            </a:r>
            <a:r>
              <a:rPr dirty="0"/>
              <a:t>, </a:t>
            </a:r>
            <a:r>
              <a:rPr dirty="0" err="1"/>
              <a:t>сколько</a:t>
            </a:r>
            <a:r>
              <a:rPr dirty="0"/>
              <a:t> и в </a:t>
            </a:r>
            <a:r>
              <a:rPr dirty="0" err="1"/>
              <a:t>каком</a:t>
            </a:r>
            <a:r>
              <a:rPr dirty="0"/>
              <a:t> </a:t>
            </a:r>
            <a:r>
              <a:rPr dirty="0" err="1"/>
              <a:t>статусе</a:t>
            </a:r>
            <a:r>
              <a:rPr dirty="0"/>
              <a:t> </a:t>
            </a:r>
            <a:r>
              <a:rPr dirty="0" err="1"/>
              <a:t>приём</a:t>
            </a:r>
            <a:r>
              <a:rPr dirty="0"/>
              <a:t>.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этом</a:t>
            </a:r>
            <a:r>
              <a:rPr dirty="0"/>
              <a:t> </a:t>
            </a:r>
            <a:r>
              <a:rPr dirty="0" err="1"/>
              <a:t>мелкий</a:t>
            </a:r>
            <a:r>
              <a:rPr dirty="0"/>
              <a:t> </a:t>
            </a:r>
            <a:r>
              <a:rPr dirty="0" err="1"/>
              <a:t>текст</a:t>
            </a:r>
            <a:r>
              <a:rPr dirty="0"/>
              <a:t>, </a:t>
            </a:r>
            <a:r>
              <a:rPr dirty="0" err="1"/>
              <a:t>лишние</a:t>
            </a:r>
            <a:r>
              <a:rPr dirty="0"/>
              <a:t> </a:t>
            </a:r>
            <a:r>
              <a:rPr dirty="0" err="1"/>
              <a:t>переходы</a:t>
            </a:r>
            <a:r>
              <a:rPr dirty="0"/>
              <a:t> и </a:t>
            </a:r>
            <a:r>
              <a:rPr dirty="0" err="1"/>
              <a:t>пароли</a:t>
            </a:r>
            <a:r>
              <a:rPr dirty="0"/>
              <a:t> </a:t>
            </a:r>
            <a:r>
              <a:rPr dirty="0" err="1"/>
              <a:t>создают</a:t>
            </a:r>
            <a:r>
              <a:rPr dirty="0"/>
              <a:t> </a:t>
            </a:r>
            <a:r>
              <a:rPr dirty="0" err="1"/>
              <a:t>барьеры</a:t>
            </a:r>
            <a:r>
              <a:rPr dirty="0"/>
              <a:t> </a:t>
            </a:r>
            <a:r>
              <a:rPr dirty="0" err="1"/>
              <a:t>ещё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первого</a:t>
            </a:r>
            <a:r>
              <a:rPr dirty="0"/>
              <a:t> </a:t>
            </a:r>
            <a:r>
              <a:rPr dirty="0" err="1"/>
              <a:t>действия</a:t>
            </a:r>
            <a:r>
              <a:rPr dirty="0"/>
              <a:t>, а </a:t>
            </a:r>
            <a:r>
              <a:rPr dirty="0" err="1"/>
              <a:t>близкие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знают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приём</a:t>
            </a:r>
            <a:r>
              <a:rPr dirty="0"/>
              <a:t> </a:t>
            </a:r>
            <a:r>
              <a:rPr dirty="0" err="1"/>
              <a:t>пропущен</a:t>
            </a:r>
            <a:r>
              <a:rPr dirty="0"/>
              <a:t>.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наша</a:t>
            </a:r>
            <a:r>
              <a:rPr dirty="0"/>
              <a:t> </a:t>
            </a:r>
            <a:r>
              <a:rPr dirty="0" err="1"/>
              <a:t>цель</a:t>
            </a:r>
            <a:r>
              <a:rPr dirty="0"/>
              <a:t> —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просто</a:t>
            </a:r>
            <a:r>
              <a:rPr dirty="0"/>
              <a:t> </a:t>
            </a:r>
            <a:r>
              <a:rPr dirty="0" err="1"/>
              <a:t>напомнить</a:t>
            </a:r>
            <a:r>
              <a:rPr dirty="0"/>
              <a:t>, а </a:t>
            </a:r>
            <a:r>
              <a:rPr dirty="0" err="1"/>
              <a:t>дать</a:t>
            </a:r>
            <a:r>
              <a:rPr dirty="0"/>
              <a:t> </a:t>
            </a:r>
            <a:r>
              <a:rPr dirty="0" err="1"/>
              <a:t>понятное</a:t>
            </a:r>
            <a:r>
              <a:rPr dirty="0"/>
              <a:t> </a:t>
            </a:r>
            <a:r>
              <a:rPr dirty="0" err="1"/>
              <a:t>действие</a:t>
            </a:r>
            <a:r>
              <a:rPr dirty="0"/>
              <a:t> в </a:t>
            </a:r>
            <a:r>
              <a:rPr dirty="0" err="1"/>
              <a:t>нужный</a:t>
            </a:r>
            <a:r>
              <a:rPr dirty="0"/>
              <a:t> </a:t>
            </a:r>
            <a:r>
              <a:rPr dirty="0" err="1"/>
              <a:t>момент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Идея</a:t>
            </a:r>
            <a:r>
              <a:rPr dirty="0"/>
              <a:t> и </a:t>
            </a:r>
            <a:r>
              <a:rPr dirty="0" err="1"/>
              <a:t>качество</a:t>
            </a:r>
            <a:r>
              <a:rPr dirty="0"/>
              <a:t> </a:t>
            </a:r>
            <a:r>
              <a:rPr dirty="0" err="1"/>
              <a:t>решения</a:t>
            </a:r>
            <a:r>
              <a:rPr dirty="0"/>
              <a:t>] </a:t>
            </a:r>
            <a:r>
              <a:rPr dirty="0" err="1"/>
              <a:t>Наша</a:t>
            </a:r>
            <a:r>
              <a:rPr dirty="0"/>
              <a:t> </a:t>
            </a:r>
            <a:r>
              <a:rPr dirty="0" err="1"/>
              <a:t>идея</a:t>
            </a:r>
            <a:r>
              <a:rPr dirty="0"/>
              <a:t> —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ещё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будильник</a:t>
            </a:r>
            <a:r>
              <a:rPr dirty="0"/>
              <a:t>, а </a:t>
            </a:r>
            <a:r>
              <a:rPr dirty="0" err="1"/>
              <a:t>главный</a:t>
            </a:r>
            <a:r>
              <a:rPr dirty="0"/>
              <a:t> </a:t>
            </a:r>
            <a:r>
              <a:rPr dirty="0" err="1"/>
              <a:t>экран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всё</a:t>
            </a:r>
            <a:r>
              <a:rPr dirty="0"/>
              <a:t> </a:t>
            </a:r>
            <a:r>
              <a:rPr dirty="0" err="1"/>
              <a:t>лишнее</a:t>
            </a:r>
            <a:r>
              <a:rPr dirty="0"/>
              <a:t> </a:t>
            </a:r>
            <a:r>
              <a:rPr dirty="0" err="1"/>
              <a:t>убрано</a:t>
            </a:r>
            <a:r>
              <a:rPr dirty="0"/>
              <a:t>. </a:t>
            </a:r>
            <a:r>
              <a:rPr dirty="0" err="1"/>
              <a:t>Каждому</a:t>
            </a:r>
            <a:r>
              <a:rPr dirty="0"/>
              <a:t> </a:t>
            </a:r>
            <a:r>
              <a:rPr dirty="0" err="1"/>
              <a:t>барьеру</a:t>
            </a:r>
            <a:r>
              <a:rPr dirty="0"/>
              <a:t>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ставим</a:t>
            </a:r>
            <a:r>
              <a:rPr dirty="0"/>
              <a:t> в </a:t>
            </a:r>
            <a:r>
              <a:rPr dirty="0" err="1"/>
              <a:t>соответствие</a:t>
            </a:r>
            <a:r>
              <a:rPr dirty="0"/>
              <a:t> </a:t>
            </a:r>
            <a:r>
              <a:rPr dirty="0" err="1"/>
              <a:t>конкретный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: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текущий</a:t>
            </a:r>
            <a:r>
              <a:rPr dirty="0"/>
              <a:t> </a:t>
            </a:r>
            <a:r>
              <a:rPr dirty="0" err="1"/>
              <a:t>приём</a:t>
            </a:r>
            <a:r>
              <a:rPr dirty="0"/>
              <a:t>, </a:t>
            </a:r>
            <a:r>
              <a:rPr dirty="0" err="1"/>
              <a:t>одна</a:t>
            </a:r>
            <a:r>
              <a:rPr dirty="0"/>
              <a:t> </a:t>
            </a:r>
            <a:r>
              <a:rPr dirty="0" err="1"/>
              <a:t>крупная</a:t>
            </a:r>
            <a:r>
              <a:rPr dirty="0"/>
              <a:t> </a:t>
            </a:r>
            <a:r>
              <a:rPr dirty="0" err="1"/>
              <a:t>кнопка</a:t>
            </a:r>
            <a:r>
              <a:rPr dirty="0"/>
              <a:t>, </a:t>
            </a:r>
            <a:r>
              <a:rPr dirty="0" err="1"/>
              <a:t>вход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регистрации</a:t>
            </a:r>
            <a:r>
              <a:rPr dirty="0"/>
              <a:t> и </a:t>
            </a:r>
            <a:r>
              <a:rPr dirty="0" err="1"/>
              <a:t>отдельная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близкого</a:t>
            </a:r>
            <a:r>
              <a:rPr dirty="0"/>
              <a:t>. </a:t>
            </a:r>
            <a:r>
              <a:rPr dirty="0" err="1"/>
              <a:t>Ещё</a:t>
            </a:r>
            <a:r>
              <a:rPr dirty="0"/>
              <a:t>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добавили</a:t>
            </a:r>
            <a:r>
              <a:rPr dirty="0"/>
              <a:t> </a:t>
            </a:r>
            <a:r>
              <a:rPr dirty="0" err="1"/>
              <a:t>короткую</a:t>
            </a:r>
            <a:r>
              <a:rPr dirty="0"/>
              <a:t> </a:t>
            </a:r>
            <a:r>
              <a:rPr dirty="0" err="1"/>
              <a:t>тренировку</a:t>
            </a:r>
            <a:r>
              <a:rPr dirty="0"/>
              <a:t> </a:t>
            </a:r>
            <a:r>
              <a:rPr dirty="0" err="1"/>
              <a:t>памяти</a:t>
            </a:r>
            <a:r>
              <a:rPr dirty="0"/>
              <a:t>, о </a:t>
            </a:r>
            <a:r>
              <a:rPr dirty="0" err="1"/>
              <a:t>ней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минуту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[MVP · </a:t>
            </a: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показать</a:t>
            </a:r>
            <a:r>
              <a:rPr dirty="0"/>
              <a:t> </a:t>
            </a:r>
            <a:r>
              <a:rPr dirty="0" err="1"/>
              <a:t>вживую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ссылке</a:t>
            </a:r>
            <a:r>
              <a:rPr dirty="0"/>
              <a:t>] Это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макет</a:t>
            </a:r>
            <a:r>
              <a:rPr dirty="0"/>
              <a:t>, а </a:t>
            </a:r>
            <a:r>
              <a:rPr dirty="0" err="1"/>
              <a:t>работающий</a:t>
            </a:r>
            <a:r>
              <a:rPr dirty="0"/>
              <a:t> </a:t>
            </a:r>
            <a:r>
              <a:rPr dirty="0" err="1"/>
              <a:t>прототип</a:t>
            </a:r>
            <a:r>
              <a:rPr dirty="0"/>
              <a:t>. </a:t>
            </a:r>
            <a:r>
              <a:rPr dirty="0" err="1"/>
              <a:t>Заходим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регистрации</a:t>
            </a:r>
            <a:r>
              <a:rPr dirty="0"/>
              <a:t>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главном</a:t>
            </a:r>
            <a:r>
              <a:rPr dirty="0"/>
              <a:t> </a:t>
            </a:r>
            <a:r>
              <a:rPr dirty="0" err="1"/>
              <a:t>экране</a:t>
            </a:r>
            <a:r>
              <a:rPr dirty="0"/>
              <a:t> </a:t>
            </a:r>
            <a:r>
              <a:rPr dirty="0" err="1"/>
              <a:t>видим</a:t>
            </a:r>
            <a:r>
              <a:rPr dirty="0"/>
              <a:t> </a:t>
            </a:r>
            <a:r>
              <a:rPr dirty="0" err="1"/>
              <a:t>препарат</a:t>
            </a:r>
            <a:r>
              <a:rPr dirty="0"/>
              <a:t>, </a:t>
            </a:r>
            <a:r>
              <a:rPr dirty="0" err="1"/>
              <a:t>дозу</a:t>
            </a:r>
            <a:r>
              <a:rPr dirty="0"/>
              <a:t> и </a:t>
            </a:r>
            <a:r>
              <a:rPr dirty="0" err="1"/>
              <a:t>время</a:t>
            </a:r>
            <a:r>
              <a:rPr dirty="0"/>
              <a:t>, </a:t>
            </a:r>
            <a:r>
              <a:rPr dirty="0" err="1"/>
              <a:t>нажимаем</a:t>
            </a:r>
            <a:r>
              <a:rPr dirty="0"/>
              <a:t> «Я </a:t>
            </a:r>
            <a:r>
              <a:rPr dirty="0" err="1"/>
              <a:t>принял</a:t>
            </a:r>
            <a:r>
              <a:rPr dirty="0"/>
              <a:t>», и </a:t>
            </a:r>
            <a:r>
              <a:rPr dirty="0" err="1"/>
              <a:t>сразу</a:t>
            </a:r>
            <a:r>
              <a:rPr dirty="0"/>
              <a:t> </a:t>
            </a:r>
            <a:r>
              <a:rPr dirty="0" err="1"/>
              <a:t>виден</a:t>
            </a:r>
            <a:r>
              <a:rPr dirty="0"/>
              <a:t> </a:t>
            </a:r>
            <a:r>
              <a:rPr dirty="0" err="1"/>
              <a:t>следующий</a:t>
            </a:r>
            <a:r>
              <a:rPr dirty="0"/>
              <a:t> </a:t>
            </a:r>
            <a:r>
              <a:rPr dirty="0" err="1"/>
              <a:t>приём</a:t>
            </a:r>
            <a:r>
              <a:rPr dirty="0"/>
              <a:t> с </a:t>
            </a:r>
            <a:r>
              <a:rPr dirty="0" err="1"/>
              <a:t>отметкой</a:t>
            </a:r>
            <a:r>
              <a:rPr dirty="0"/>
              <a:t> в </a:t>
            </a:r>
            <a:r>
              <a:rPr dirty="0" err="1"/>
              <a:t>расписании</a:t>
            </a:r>
            <a:r>
              <a:rPr dirty="0"/>
              <a:t>.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демонстрации</a:t>
            </a:r>
            <a:r>
              <a:rPr dirty="0"/>
              <a:t> </a:t>
            </a:r>
            <a:r>
              <a:rPr dirty="0" err="1"/>
              <a:t>ускоряем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показать</a:t>
            </a:r>
            <a:r>
              <a:rPr dirty="0"/>
              <a:t> </a:t>
            </a:r>
            <a:r>
              <a:rPr dirty="0" err="1"/>
              <a:t>сценарий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минуту</a:t>
            </a:r>
            <a:r>
              <a:rPr dirty="0"/>
              <a:t>. </a:t>
            </a:r>
            <a:r>
              <a:rPr dirty="0" err="1"/>
              <a:t>Важно</a:t>
            </a:r>
            <a:r>
              <a:rPr dirty="0"/>
              <a:t>: </a:t>
            </a:r>
            <a:r>
              <a:rPr dirty="0" err="1"/>
              <a:t>отметка</a:t>
            </a:r>
            <a:r>
              <a:rPr dirty="0"/>
              <a:t>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подтверждение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, </a:t>
            </a: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сам</a:t>
            </a:r>
            <a:r>
              <a:rPr dirty="0"/>
              <a:t> </a:t>
            </a:r>
            <a:r>
              <a:rPr dirty="0" err="1"/>
              <a:t>факт</a:t>
            </a:r>
            <a:r>
              <a:rPr dirty="0"/>
              <a:t> </a:t>
            </a:r>
            <a:r>
              <a:rPr dirty="0" err="1"/>
              <a:t>приёма</a:t>
            </a:r>
            <a:r>
              <a:rPr dirty="0"/>
              <a:t>. </a:t>
            </a:r>
            <a:r>
              <a:rPr dirty="0" err="1"/>
              <a:t>Препараты</a:t>
            </a:r>
            <a:r>
              <a:rPr dirty="0"/>
              <a:t> в </a:t>
            </a:r>
            <a:r>
              <a:rPr dirty="0" err="1"/>
              <a:t>примере</a:t>
            </a:r>
            <a:r>
              <a:rPr dirty="0"/>
              <a:t> —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медицинская</a:t>
            </a:r>
            <a:r>
              <a:rPr dirty="0"/>
              <a:t> </a:t>
            </a:r>
            <a:r>
              <a:rPr dirty="0" err="1"/>
              <a:t>рекомендация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Вторая часть задания — быстрые упражнения для памяти. Мы подготовили сценарий с четырьмя знакомыми словами. Человек сначала запоминает их, а затем узнаёт среди других вариантов. Для этого не нужно осваивать сложные правила. В интерфейсе есть поддерживающее пояснение, что ошибиться не страшно. Мы рассматриваем эту функцию как короткую тренировку и не заявляем, что она диагностирует или лечит нарушения памяти.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Техническая</a:t>
            </a:r>
            <a:r>
              <a:rPr dirty="0"/>
              <a:t> </a:t>
            </a:r>
            <a:r>
              <a:rPr dirty="0" err="1"/>
              <a:t>реализация</a:t>
            </a:r>
            <a:r>
              <a:rPr dirty="0"/>
              <a:t> и MVP]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хакатон</a:t>
            </a:r>
            <a:r>
              <a:rPr dirty="0"/>
              <a:t>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собрали</a:t>
            </a:r>
            <a:r>
              <a:rPr dirty="0"/>
              <a:t> </a:t>
            </a:r>
            <a:r>
              <a:rPr dirty="0" err="1"/>
              <a:t>основные</a:t>
            </a:r>
            <a:r>
              <a:rPr dirty="0"/>
              <a:t> </a:t>
            </a:r>
            <a:r>
              <a:rPr dirty="0" err="1"/>
              <a:t>экраны</a:t>
            </a:r>
            <a:r>
              <a:rPr dirty="0"/>
              <a:t> и </a:t>
            </a:r>
            <a:r>
              <a:rPr dirty="0" err="1"/>
              <a:t>сценарии</a:t>
            </a:r>
            <a:r>
              <a:rPr dirty="0"/>
              <a:t>, и </a:t>
            </a:r>
            <a:r>
              <a:rPr dirty="0" err="1"/>
              <a:t>всё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открывается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ссылке</a:t>
            </a:r>
            <a:r>
              <a:rPr dirty="0"/>
              <a:t>. [</a:t>
            </a:r>
            <a:r>
              <a:rPr dirty="0" err="1"/>
              <a:t>Добавьте</a:t>
            </a:r>
            <a:r>
              <a:rPr dirty="0"/>
              <a:t> </a:t>
            </a:r>
            <a:r>
              <a:rPr dirty="0" err="1"/>
              <a:t>одну</a:t>
            </a:r>
            <a:r>
              <a:rPr dirty="0"/>
              <a:t> </a:t>
            </a:r>
            <a:r>
              <a:rPr dirty="0" err="1"/>
              <a:t>фразу</a:t>
            </a:r>
            <a:r>
              <a:rPr dirty="0"/>
              <a:t> о </a:t>
            </a:r>
            <a:r>
              <a:rPr dirty="0" err="1"/>
              <a:t>стеке</a:t>
            </a:r>
            <a:r>
              <a:rPr dirty="0"/>
              <a:t>: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чём</a:t>
            </a:r>
            <a:r>
              <a:rPr dirty="0"/>
              <a:t> </a:t>
            </a:r>
            <a:r>
              <a:rPr dirty="0" err="1"/>
              <a:t>написано</a:t>
            </a:r>
            <a:r>
              <a:rPr dirty="0"/>
              <a:t> и </a:t>
            </a: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выбрали</a:t>
            </a:r>
            <a:r>
              <a:rPr dirty="0"/>
              <a:t>.]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честно</a:t>
            </a:r>
            <a:r>
              <a:rPr dirty="0"/>
              <a:t> </a:t>
            </a:r>
            <a:r>
              <a:rPr dirty="0" err="1"/>
              <a:t>разделяем</a:t>
            </a:r>
            <a:r>
              <a:rPr dirty="0"/>
              <a:t> </a:t>
            </a:r>
            <a:r>
              <a:rPr dirty="0" err="1"/>
              <a:t>показанное</a:t>
            </a:r>
            <a:r>
              <a:rPr dirty="0"/>
              <a:t> в </a:t>
            </a:r>
            <a:r>
              <a:rPr dirty="0" err="1"/>
              <a:t>интерфейсе</a:t>
            </a:r>
            <a:r>
              <a:rPr dirty="0"/>
              <a:t> и </a:t>
            </a:r>
            <a:r>
              <a:rPr dirty="0" err="1"/>
              <a:t>внешние</a:t>
            </a:r>
            <a:r>
              <a:rPr dirty="0"/>
              <a:t> </a:t>
            </a:r>
            <a:r>
              <a:rPr dirty="0" err="1"/>
              <a:t>функции</a:t>
            </a:r>
            <a:r>
              <a:rPr dirty="0"/>
              <a:t>. </a:t>
            </a:r>
            <a:r>
              <a:rPr dirty="0" err="1"/>
              <a:t>Реальные</a:t>
            </a:r>
            <a:r>
              <a:rPr dirty="0"/>
              <a:t> </a:t>
            </a:r>
            <a:r>
              <a:rPr dirty="0" err="1"/>
              <a:t>звонки</a:t>
            </a:r>
            <a:r>
              <a:rPr dirty="0"/>
              <a:t>, </a:t>
            </a:r>
            <a:r>
              <a:rPr dirty="0" err="1"/>
              <a:t>уведомления</a:t>
            </a:r>
            <a:r>
              <a:rPr dirty="0"/>
              <a:t> </a:t>
            </a:r>
            <a:r>
              <a:rPr dirty="0" err="1"/>
              <a:t>близким</a:t>
            </a:r>
            <a:r>
              <a:rPr dirty="0"/>
              <a:t> и </a:t>
            </a:r>
            <a:r>
              <a:rPr dirty="0" err="1"/>
              <a:t>напоминания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заблокированном</a:t>
            </a:r>
            <a:r>
              <a:rPr dirty="0"/>
              <a:t> </a:t>
            </a:r>
            <a:r>
              <a:rPr dirty="0" err="1"/>
              <a:t>телефоне</a:t>
            </a:r>
            <a:r>
              <a:rPr dirty="0"/>
              <a:t> </a:t>
            </a:r>
            <a:r>
              <a:rPr dirty="0" err="1"/>
              <a:t>требуют</a:t>
            </a:r>
            <a:r>
              <a:rPr dirty="0"/>
              <a:t> </a:t>
            </a:r>
            <a:r>
              <a:rPr dirty="0" err="1"/>
              <a:t>отдельной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устройстве</a:t>
            </a:r>
            <a:r>
              <a:rPr dirty="0"/>
              <a:t>. </a:t>
            </a:r>
            <a:r>
              <a:rPr dirty="0" err="1"/>
              <a:t>Сейчас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прототип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демонстрации</a:t>
            </a:r>
            <a:r>
              <a:rPr dirty="0"/>
              <a:t> и </a:t>
            </a:r>
            <a:r>
              <a:rPr dirty="0" err="1"/>
              <a:t>тестирования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Практическая</a:t>
            </a:r>
            <a:r>
              <a:rPr dirty="0"/>
              <a:t> </a:t>
            </a:r>
            <a:r>
              <a:rPr dirty="0" err="1"/>
              <a:t>применимость</a:t>
            </a:r>
            <a:r>
              <a:rPr dirty="0"/>
              <a:t>] </a:t>
            </a:r>
            <a:r>
              <a:rPr dirty="0" err="1"/>
              <a:t>Следующий</a:t>
            </a:r>
            <a:r>
              <a:rPr dirty="0"/>
              <a:t> </a:t>
            </a:r>
            <a:r>
              <a:rPr dirty="0" err="1"/>
              <a:t>шаг</a:t>
            </a:r>
            <a:r>
              <a:rPr dirty="0"/>
              <a:t> </a:t>
            </a:r>
            <a:r>
              <a:rPr dirty="0" err="1"/>
              <a:t>понятен</a:t>
            </a:r>
            <a:r>
              <a:rPr dirty="0"/>
              <a:t>: </a:t>
            </a:r>
            <a:r>
              <a:rPr dirty="0" err="1"/>
              <a:t>дать</a:t>
            </a:r>
            <a:r>
              <a:rPr dirty="0"/>
              <a:t> </a:t>
            </a: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пожилым</a:t>
            </a:r>
            <a:r>
              <a:rPr dirty="0"/>
              <a:t> </a:t>
            </a:r>
            <a:r>
              <a:rPr dirty="0" err="1"/>
              <a:t>пользователям</a:t>
            </a:r>
            <a:r>
              <a:rPr dirty="0"/>
              <a:t> и </a:t>
            </a:r>
            <a:r>
              <a:rPr dirty="0" err="1"/>
              <a:t>проверить</a:t>
            </a:r>
            <a:r>
              <a:rPr dirty="0"/>
              <a:t>, </a:t>
            </a:r>
            <a:r>
              <a:rPr dirty="0" err="1"/>
              <a:t>проходят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они</a:t>
            </a:r>
            <a:r>
              <a:rPr dirty="0"/>
              <a:t>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сценарий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подсказок</a:t>
            </a:r>
            <a:r>
              <a:rPr dirty="0"/>
              <a:t>.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измерим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 </a:t>
            </a:r>
            <a:r>
              <a:rPr dirty="0" err="1"/>
              <a:t>подтверждения</a:t>
            </a:r>
            <a:r>
              <a:rPr dirty="0"/>
              <a:t>, </a:t>
            </a:r>
            <a:r>
              <a:rPr dirty="0" err="1"/>
              <a:t>потребность</a:t>
            </a:r>
            <a:r>
              <a:rPr dirty="0"/>
              <a:t> в </a:t>
            </a:r>
            <a:r>
              <a:rPr dirty="0" err="1"/>
              <a:t>помощи</a:t>
            </a:r>
            <a:r>
              <a:rPr dirty="0"/>
              <a:t> и </a:t>
            </a:r>
            <a:r>
              <a:rPr dirty="0" err="1"/>
              <a:t>долю</a:t>
            </a:r>
            <a:r>
              <a:rPr dirty="0"/>
              <a:t> </a:t>
            </a:r>
            <a:r>
              <a:rPr dirty="0" err="1"/>
              <a:t>неподтверждённых</a:t>
            </a:r>
            <a:r>
              <a:rPr dirty="0"/>
              <a:t> </a:t>
            </a:r>
            <a:r>
              <a:rPr dirty="0" err="1"/>
              <a:t>напоминаний</a:t>
            </a:r>
            <a:r>
              <a:rPr dirty="0"/>
              <a:t>. </a:t>
            </a:r>
            <a:r>
              <a:rPr dirty="0" err="1"/>
              <a:t>Ноль</a:t>
            </a:r>
            <a:r>
              <a:rPr dirty="0"/>
              <a:t> </a:t>
            </a:r>
            <a:r>
              <a:rPr dirty="0" err="1"/>
              <a:t>пропусков</a:t>
            </a:r>
            <a:r>
              <a:rPr dirty="0"/>
              <a:t> — </a:t>
            </a:r>
            <a:r>
              <a:rPr dirty="0" err="1"/>
              <a:t>цель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выдаём</a:t>
            </a:r>
            <a:r>
              <a:rPr dirty="0"/>
              <a:t> </a:t>
            </a:r>
            <a:r>
              <a:rPr dirty="0" err="1"/>
              <a:t>её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доказанный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. </a:t>
            </a: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доработаем</a:t>
            </a:r>
            <a:r>
              <a:rPr dirty="0"/>
              <a:t> </a:t>
            </a:r>
            <a:r>
              <a:rPr dirty="0" err="1"/>
              <a:t>звонки</a:t>
            </a:r>
            <a:r>
              <a:rPr dirty="0"/>
              <a:t> и </a:t>
            </a:r>
            <a:r>
              <a:rPr dirty="0" err="1"/>
              <a:t>уведомления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устройстве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[</a:t>
            </a:r>
            <a:r>
              <a:rPr dirty="0" err="1"/>
              <a:t>Финал</a:t>
            </a:r>
            <a:r>
              <a:rPr dirty="0"/>
              <a:t>] </a:t>
            </a:r>
            <a:r>
              <a:rPr dirty="0" err="1"/>
              <a:t>Возвращаемся</a:t>
            </a:r>
            <a:r>
              <a:rPr dirty="0"/>
              <a:t> к </a:t>
            </a:r>
            <a:r>
              <a:rPr dirty="0" err="1"/>
              <a:t>вопросу</a:t>
            </a:r>
            <a:r>
              <a:rPr dirty="0"/>
              <a:t>, с </a:t>
            </a:r>
            <a:r>
              <a:rPr dirty="0" err="1"/>
              <a:t>которого</a:t>
            </a:r>
            <a:r>
              <a:rPr dirty="0"/>
              <a:t> </a:t>
            </a:r>
            <a:r>
              <a:rPr dirty="0" err="1"/>
              <a:t>начали</a:t>
            </a:r>
            <a:r>
              <a:rPr dirty="0"/>
              <a:t>: «Я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принял</a:t>
            </a:r>
            <a:r>
              <a:rPr dirty="0"/>
              <a:t> </a:t>
            </a:r>
            <a:r>
              <a:rPr dirty="0" err="1"/>
              <a:t>лекарство</a:t>
            </a:r>
            <a:r>
              <a:rPr dirty="0"/>
              <a:t>?» В </a:t>
            </a:r>
            <a:r>
              <a:rPr dirty="0" err="1"/>
              <a:t>SilverCare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 и </a:t>
            </a:r>
            <a:r>
              <a:rPr dirty="0" err="1"/>
              <a:t>нужное</a:t>
            </a:r>
            <a:r>
              <a:rPr dirty="0"/>
              <a:t> </a:t>
            </a:r>
            <a:r>
              <a:rPr dirty="0" err="1"/>
              <a:t>действие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главном</a:t>
            </a:r>
            <a:r>
              <a:rPr dirty="0"/>
              <a:t> </a:t>
            </a:r>
            <a:r>
              <a:rPr dirty="0" err="1"/>
              <a:t>экране</a:t>
            </a:r>
            <a:r>
              <a:rPr dirty="0"/>
              <a:t>. </a:t>
            </a:r>
            <a:r>
              <a:rPr dirty="0" err="1"/>
              <a:t>Приглашаем</a:t>
            </a:r>
            <a:r>
              <a:rPr dirty="0"/>
              <a:t> </a:t>
            </a:r>
            <a:r>
              <a:rPr dirty="0" err="1"/>
              <a:t>посмотреть</a:t>
            </a:r>
            <a:r>
              <a:rPr dirty="0"/>
              <a:t> </a:t>
            </a:r>
            <a:r>
              <a:rPr dirty="0" err="1"/>
              <a:t>прототип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ссылке</a:t>
            </a:r>
            <a:r>
              <a:rPr dirty="0"/>
              <a:t>. </a:t>
            </a:r>
            <a:r>
              <a:rPr dirty="0" err="1"/>
              <a:t>Спасибо</a:t>
            </a:r>
            <a:r>
              <a:rPr dirty="0"/>
              <a:t>, </a:t>
            </a:r>
            <a:r>
              <a:rPr dirty="0" err="1"/>
              <a:t>готовы</a:t>
            </a:r>
            <a:r>
              <a:rPr dirty="0"/>
              <a:t> к </a:t>
            </a:r>
            <a:r>
              <a:rPr dirty="0" err="1"/>
              <a:t>вопросам</a:t>
            </a:r>
            <a:r>
              <a:rPr dirty="0"/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413500" y="698500"/>
            <a:ext cx="5461000" cy="5461000"/>
          </a:xfrm>
          <a:prstGeom prst="ellipse">
            <a:avLst/>
          </a:prstGeom>
          <a:solidFill>
            <a:srgbClr val="17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h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1587500"/>
            <a:ext cx="2159000" cy="4565650"/>
          </a:xfrm>
          <a:prstGeom prst="rect">
            <a:avLst/>
          </a:prstGeom>
        </p:spPr>
      </p:pic>
      <p:pic>
        <p:nvPicPr>
          <p:cNvPr id="4" name="Picture 3" descr="ph_n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698500"/>
            <a:ext cx="2159000" cy="4565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2800" y="812800"/>
            <a:ext cx="5715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200">
                <a:solidFill>
                  <a:srgbClr val="8FB8F5"/>
                </a:solidFill>
                <a:latin typeface="Arial"/>
              </a:rPr>
              <a:t>FIZTEX HACKATHON  /  MEDICINE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540000"/>
            <a:ext cx="6223000" cy="165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spc="-100">
                <a:solidFill>
                  <a:srgbClr val="FFFFFF"/>
                </a:solidFill>
                <a:latin typeface="Arial"/>
              </a:rPr>
              <a:t>«Я уже принял</a:t>
            </a:r>
          </a:p>
          <a:p>
            <a:pPr algn="l">
              <a:lnSpc>
                <a:spcPct val="100000"/>
              </a:lnSpc>
            </a:pPr>
            <a:r>
              <a:rPr sz="5400" b="1" spc="-100">
                <a:solidFill>
                  <a:srgbClr val="FFFFFF"/>
                </a:solidFill>
                <a:latin typeface="Arial"/>
              </a:rPr>
              <a:t>лекарство?»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4381500"/>
            <a:ext cx="5715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8FB8F5"/>
                </a:solidFill>
                <a:latin typeface="Arial"/>
              </a:rPr>
              <a:t>SilverCare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4902200"/>
            <a:ext cx="571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C9D8F2"/>
                </a:solidFill>
                <a:latin typeface="Arial"/>
              </a:rPr>
              <a:t>Контроль лекарств для пожилых людей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5397500"/>
            <a:ext cx="2984500" cy="469900"/>
          </a:xfrm>
          <a:prstGeom prst="roundRect">
            <a:avLst>
              <a:gd name="adj" fmla="val 50000"/>
            </a:avLst>
          </a:prstGeom>
          <a:solidFill>
            <a:srgbClr val="8FB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2800" y="5509339"/>
            <a:ext cx="298450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dirty="0" err="1">
                <a:solidFill>
                  <a:srgbClr val="0E1F3D"/>
                </a:solidFill>
                <a:latin typeface="Arial"/>
              </a:rPr>
              <a:t>Прототип</a:t>
            </a:r>
            <a:r>
              <a:rPr sz="1600" b="1" dirty="0">
                <a:solidFill>
                  <a:srgbClr val="0E1F3D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0E1F3D"/>
                </a:solidFill>
                <a:latin typeface="Arial"/>
              </a:rPr>
              <a:t>за</a:t>
            </a:r>
            <a:r>
              <a:rPr sz="1600" b="1" dirty="0">
                <a:solidFill>
                  <a:srgbClr val="0E1F3D"/>
                </a:solidFill>
                <a:latin typeface="Arial"/>
              </a:rPr>
              <a:t> 2</a:t>
            </a:r>
            <a:r>
              <a:rPr lang="ru-RU" sz="1600" b="1" dirty="0">
                <a:solidFill>
                  <a:srgbClr val="0E1F3D"/>
                </a:solidFill>
                <a:latin typeface="Arial"/>
              </a:rPr>
              <a:t>4</a:t>
            </a:r>
            <a:r>
              <a:rPr sz="1600" b="1" dirty="0">
                <a:solidFill>
                  <a:srgbClr val="0E1F3D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0E1F3D"/>
                </a:solidFill>
                <a:latin typeface="Arial"/>
              </a:rPr>
              <a:t>час</a:t>
            </a:r>
            <a:r>
              <a:rPr lang="ru-RU" sz="1600" b="1" dirty="0">
                <a:solidFill>
                  <a:srgbClr val="0E1F3D"/>
                </a:solidFill>
                <a:latin typeface="Arial"/>
              </a:rPr>
              <a:t>а</a:t>
            </a:r>
            <a:endParaRPr sz="1600" b="1" dirty="0">
              <a:solidFill>
                <a:srgbClr val="0E1F3D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E1F3D"/>
                </a:solidFill>
                <a:latin typeface="Arial"/>
              </a:rPr>
              <a:t>Проблема: сомнение вместо действия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593850"/>
            <a:ext cx="4044950" cy="3282950"/>
          </a:xfrm>
          <a:prstGeom prst="roundRect">
            <a:avLst>
              <a:gd name="adj" fmla="val 6189"/>
            </a:avLst>
          </a:prstGeom>
          <a:solidFill>
            <a:srgbClr val="0E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68400" y="1949450"/>
            <a:ext cx="3175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200">
                <a:solidFill>
                  <a:srgbClr val="8FB8F5"/>
                </a:solidFill>
                <a:latin typeface="Arial"/>
              </a:rPr>
              <a:t>ДЛЯ КОГО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400" y="2413000"/>
            <a:ext cx="3333750" cy="2108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Пожилые люди с несколькими препаратами и их близкие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60950" y="1593850"/>
            <a:ext cx="3054350" cy="1543050"/>
          </a:xfrm>
          <a:prstGeom prst="roundRect">
            <a:avLst>
              <a:gd name="adj" fmla="val 11522"/>
            </a:avLst>
          </a:prstGeom>
          <a:solidFill>
            <a:srgbClr val="FFFFFF"/>
          </a:solidFill>
          <a:ln w="254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89550" y="1822450"/>
            <a:ext cx="259715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B6BDB"/>
                </a:solidFill>
                <a:latin typeface="Arial"/>
              </a:rPr>
              <a:t>Расписание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9550" y="2165350"/>
            <a:ext cx="259715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F3D"/>
                </a:solidFill>
                <a:latin typeface="Arial"/>
              </a:rPr>
              <a:t>Несколько препаратов в разное время: легко сбиться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18500" y="1593850"/>
            <a:ext cx="3054350" cy="1543050"/>
          </a:xfrm>
          <a:prstGeom prst="roundRect">
            <a:avLst>
              <a:gd name="adj" fmla="val 11522"/>
            </a:avLst>
          </a:prstGeom>
          <a:solidFill>
            <a:srgbClr val="FFFFFF"/>
          </a:solidFill>
          <a:ln w="254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7100" y="1822450"/>
            <a:ext cx="259715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B6BDB"/>
                </a:solidFill>
                <a:latin typeface="Arial"/>
              </a:rPr>
              <a:t>Интерфейс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7100" y="2165350"/>
            <a:ext cx="259715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F3D"/>
                </a:solidFill>
                <a:latin typeface="Arial"/>
              </a:rPr>
              <a:t>Мелкий текст и лишние переходы отнимают силы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0950" y="3333750"/>
            <a:ext cx="3054350" cy="1543050"/>
          </a:xfrm>
          <a:prstGeom prst="roundRect">
            <a:avLst>
              <a:gd name="adj" fmla="val 11522"/>
            </a:avLst>
          </a:prstGeom>
          <a:solidFill>
            <a:srgbClr val="FFFFFF"/>
          </a:solidFill>
          <a:ln w="254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89550" y="3562350"/>
            <a:ext cx="259715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B6BDB"/>
                </a:solidFill>
                <a:latin typeface="Arial"/>
              </a:rPr>
              <a:t>Вход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9550" y="3905250"/>
            <a:ext cx="259715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F3D"/>
                </a:solidFill>
                <a:latin typeface="Arial"/>
              </a:rPr>
              <a:t>Пароли и коды подтверждения мешают даже начать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18500" y="3333750"/>
            <a:ext cx="3054350" cy="1543050"/>
          </a:xfrm>
          <a:prstGeom prst="roundRect">
            <a:avLst>
              <a:gd name="adj" fmla="val 11522"/>
            </a:avLst>
          </a:prstGeom>
          <a:solidFill>
            <a:srgbClr val="FFFFFF"/>
          </a:solidFill>
          <a:ln w="254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7100" y="3562350"/>
            <a:ext cx="259715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B6BDB"/>
                </a:solidFill>
                <a:latin typeface="Arial"/>
              </a:rPr>
              <a:t>Близкие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7100" y="3905250"/>
            <a:ext cx="2597150" cy="825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0E1F3D"/>
                </a:solidFill>
                <a:latin typeface="Arial"/>
              </a:rPr>
              <a:t>Родственники не знают о пропущенных приёмах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800" y="5181600"/>
            <a:ext cx="10566400" cy="660400"/>
          </a:xfrm>
          <a:prstGeom prst="roundRect">
            <a:avLst>
              <a:gd name="adj" fmla="val 26923"/>
            </a:avLst>
          </a:prstGeom>
          <a:solidFill>
            <a:srgbClr val="0B6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68400" y="5181600"/>
            <a:ext cx="9906000" cy="660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Цель: понятное действие в нужный момент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6248400"/>
            <a:ext cx="5715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782"/>
                </a:solidFill>
                <a:latin typeface="Arial"/>
              </a:rPr>
              <a:t>SilverCare · FIZTEX Hackathon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9200" y="62484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5A6782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E1F3D"/>
                </a:solidFill>
                <a:latin typeface="Arial"/>
              </a:rPr>
              <a:t>Идея: одно действие на главном экране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5240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200">
                <a:solidFill>
                  <a:srgbClr val="5A6782"/>
                </a:solidFill>
                <a:latin typeface="Arial"/>
              </a:rPr>
              <a:t>БАРЬЕР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83200" y="1524000"/>
            <a:ext cx="3810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200">
                <a:solidFill>
                  <a:srgbClr val="0B6BDB"/>
                </a:solidFill>
                <a:latin typeface="Arial"/>
              </a:rPr>
              <a:t>НАШ ОТВЕТ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1885950"/>
            <a:ext cx="3810000" cy="889000"/>
          </a:xfrm>
          <a:prstGeom prst="roundRect">
            <a:avLst>
              <a:gd name="adj" fmla="val 17142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1400" y="1885950"/>
            <a:ext cx="3365500" cy="889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4A5878"/>
                </a:solidFill>
                <a:latin typeface="Arial"/>
              </a:rPr>
              <a:t>Несколько препаратов, разное время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5200" y="1885950"/>
            <a:ext cx="355600" cy="889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B6BDB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83200" y="1885950"/>
            <a:ext cx="6096000" cy="8890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25400">
            <a:solidFill>
              <a:srgbClr val="BFD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11800" y="1885950"/>
            <a:ext cx="5651500" cy="889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1F3D"/>
                </a:solidFill>
                <a:latin typeface="Arial"/>
              </a:rPr>
              <a:t>Только текущий приём: препарат, доза, время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2908300"/>
            <a:ext cx="3810000" cy="889000"/>
          </a:xfrm>
          <a:prstGeom prst="roundRect">
            <a:avLst>
              <a:gd name="adj" fmla="val 17142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1400" y="2908300"/>
            <a:ext cx="3365500" cy="889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4A5878"/>
                </a:solidFill>
                <a:latin typeface="Arial"/>
              </a:rPr>
              <a:t>Мелкий текст, лишние шаги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5200" y="2908300"/>
            <a:ext cx="355600" cy="889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B6BDB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83200" y="2908300"/>
            <a:ext cx="6096000" cy="8890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25400">
            <a:solidFill>
              <a:srgbClr val="BFD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11800" y="2908300"/>
            <a:ext cx="5651500" cy="889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1F3D"/>
                </a:solidFill>
                <a:latin typeface="Arial"/>
              </a:rPr>
              <a:t>Крупная кнопка «Я принял» и отсрочка «Через 15 мин»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" y="3930650"/>
            <a:ext cx="3810000" cy="889000"/>
          </a:xfrm>
          <a:prstGeom prst="roundRect">
            <a:avLst>
              <a:gd name="adj" fmla="val 17142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1400" y="3930650"/>
            <a:ext cx="3365500" cy="889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4A5878"/>
                </a:solidFill>
                <a:latin typeface="Arial"/>
              </a:rPr>
              <a:t>Пароли и коды подтверждения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5200" y="3930650"/>
            <a:ext cx="355600" cy="889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B6BDB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83200" y="3930650"/>
            <a:ext cx="6096000" cy="8890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25400">
            <a:solidFill>
              <a:srgbClr val="BFD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11800" y="3930650"/>
            <a:ext cx="5651500" cy="889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1F3D"/>
                </a:solidFill>
                <a:latin typeface="Arial"/>
              </a:rPr>
              <a:t>Вход без регистрации: старт в одно нажатие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" y="4953000"/>
            <a:ext cx="3810000" cy="889000"/>
          </a:xfrm>
          <a:prstGeom prst="roundRect">
            <a:avLst>
              <a:gd name="adj" fmla="val 17142"/>
            </a:avLst>
          </a:prstGeom>
          <a:solidFill>
            <a:srgbClr val="E6E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41400" y="4953000"/>
            <a:ext cx="3365500" cy="889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4A5878"/>
                </a:solidFill>
                <a:latin typeface="Arial"/>
              </a:rPr>
              <a:t>Близкие не в курсе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5200" y="4953000"/>
            <a:ext cx="355600" cy="889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0B6BDB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83200" y="4953000"/>
            <a:ext cx="6096000" cy="8890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25400">
            <a:solidFill>
              <a:srgbClr val="BFD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11800" y="4953000"/>
            <a:ext cx="5651500" cy="889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E1F3D"/>
                </a:solidFill>
                <a:latin typeface="Arial"/>
              </a:rPr>
              <a:t>Роль «Я помогаю близкому» и кнопка «Мне нужна помощь»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6248400"/>
            <a:ext cx="5715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782"/>
                </a:solidFill>
                <a:latin typeface="Arial"/>
              </a:rPr>
              <a:t>SilverCare · FIZTEX Hackathon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9200" y="62484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5A6782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E1F3D"/>
                </a:solidFill>
                <a:latin typeface="Arial"/>
              </a:rPr>
              <a:t>Прототип: путь пользователя за три шага</a:t>
            </a:r>
          </a:p>
        </p:txBody>
      </p:sp>
      <p:sp>
        <p:nvSpPr>
          <p:cNvPr id="3" name="Oval 2"/>
          <p:cNvSpPr/>
          <p:nvPr/>
        </p:nvSpPr>
        <p:spPr>
          <a:xfrm>
            <a:off x="1492250" y="1905000"/>
            <a:ext cx="2032000" cy="20320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ph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050" y="1841500"/>
            <a:ext cx="1682750" cy="355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9150" y="5511800"/>
            <a:ext cx="33782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0E1F3D"/>
                </a:solidFill>
                <a:latin typeface="Arial"/>
              </a:rPr>
              <a:t>01 · Вход без регистрации</a:t>
            </a:r>
          </a:p>
        </p:txBody>
      </p:sp>
      <p:sp>
        <p:nvSpPr>
          <p:cNvPr id="6" name="Oval 5"/>
          <p:cNvSpPr/>
          <p:nvPr/>
        </p:nvSpPr>
        <p:spPr>
          <a:xfrm>
            <a:off x="5080000" y="1905000"/>
            <a:ext cx="2032000" cy="20320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h_m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841500"/>
            <a:ext cx="1682750" cy="355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06900" y="5511800"/>
            <a:ext cx="33782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0E1F3D"/>
                </a:solidFill>
                <a:latin typeface="Arial"/>
              </a:rPr>
              <a:t>02 · «Я принял» одним нажатием</a:t>
            </a:r>
          </a:p>
        </p:txBody>
      </p:sp>
      <p:sp>
        <p:nvSpPr>
          <p:cNvPr id="9" name="Oval 8"/>
          <p:cNvSpPr/>
          <p:nvPr/>
        </p:nvSpPr>
        <p:spPr>
          <a:xfrm>
            <a:off x="8667750" y="1905000"/>
            <a:ext cx="2032000" cy="20320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h_n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550" y="1841500"/>
            <a:ext cx="1682750" cy="355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94650" y="5511800"/>
            <a:ext cx="33782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0E1F3D"/>
                </a:solidFill>
                <a:latin typeface="Arial"/>
              </a:rPr>
              <a:t>03 · Виден следующий приём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6248400"/>
            <a:ext cx="889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782"/>
                </a:solidFill>
                <a:latin typeface="Arial"/>
              </a:rPr>
              <a:t>Живой прототип: silvercaremedicine.vercel.app · Отметка — подтверждение пользователя, препараты — пример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9200" y="62484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5A6782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493000" y="1270000"/>
            <a:ext cx="4064000" cy="40640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h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00" y="812800"/>
            <a:ext cx="24003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2800" y="812800"/>
            <a:ext cx="6985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E1F3D"/>
                </a:solidFill>
                <a:latin typeface="Arial"/>
              </a:rPr>
              <a:t>Короткая тренировка памяти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593850"/>
            <a:ext cx="6350000" cy="12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B6BDB"/>
                </a:solidFill>
                <a:latin typeface="Arial"/>
              </a:rPr>
              <a:t>Четыре знакомых слова</a:t>
            </a:r>
          </a:p>
        </p:txBody>
      </p:sp>
      <p:sp>
        <p:nvSpPr>
          <p:cNvPr id="6" name="Oval 5"/>
          <p:cNvSpPr/>
          <p:nvPr/>
        </p:nvSpPr>
        <p:spPr>
          <a:xfrm>
            <a:off x="812800" y="3143250"/>
            <a:ext cx="304800" cy="304800"/>
          </a:xfrm>
          <a:prstGeom prst="ellipse">
            <a:avLst/>
          </a:prstGeom>
          <a:solidFill>
            <a:srgbClr val="0B6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2800" y="314325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400" y="3130550"/>
            <a:ext cx="5715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E1F3D"/>
                </a:solidFill>
                <a:latin typeface="Arial"/>
              </a:rPr>
              <a:t>Запомнить, затем узнать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3460750"/>
            <a:ext cx="5715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A6782"/>
                </a:solidFill>
                <a:latin typeface="Arial"/>
              </a:rPr>
              <a:t>Слова нужно найти среди предложенных вариантов</a:t>
            </a:r>
          </a:p>
        </p:txBody>
      </p:sp>
      <p:sp>
        <p:nvSpPr>
          <p:cNvPr id="10" name="Oval 9"/>
          <p:cNvSpPr/>
          <p:nvPr/>
        </p:nvSpPr>
        <p:spPr>
          <a:xfrm>
            <a:off x="812800" y="3949700"/>
            <a:ext cx="304800" cy="304800"/>
          </a:xfrm>
          <a:prstGeom prst="ellipse">
            <a:avLst/>
          </a:prstGeom>
          <a:solidFill>
            <a:srgbClr val="0B6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2800" y="3949700"/>
            <a:ext cx="3048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3937000"/>
            <a:ext cx="571500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0E1F3D"/>
                </a:solidFill>
                <a:latin typeface="Arial"/>
              </a:rPr>
              <a:t>Короткие инструкции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4267200"/>
            <a:ext cx="5715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5A6782"/>
                </a:solidFill>
                <a:latin typeface="Arial"/>
              </a:rPr>
              <a:t>И спокойная обратная связь: ошибиться не страшно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794250"/>
            <a:ext cx="5892800" cy="622300"/>
          </a:xfrm>
          <a:prstGeom prst="roundRect">
            <a:avLst>
              <a:gd name="adj" fmla="val 24489"/>
            </a:avLst>
          </a:prstGeom>
          <a:solidFill>
            <a:srgbClr val="FFFFFF"/>
          </a:solidFill>
          <a:ln w="254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41400" y="4794250"/>
            <a:ext cx="5461000" cy="622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E1F3D"/>
                </a:solidFill>
                <a:latin typeface="Arial"/>
              </a:rPr>
              <a:t>Упражнение не является диагностикой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6248400"/>
            <a:ext cx="5715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782"/>
                </a:solidFill>
                <a:latin typeface="Arial"/>
              </a:rPr>
              <a:t>SilverCare · FIZTEX Hackathon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9200" y="62484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5A6782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0E1F3D"/>
                </a:solidFill>
                <a:latin typeface="Arial"/>
              </a:rPr>
              <a:t>Реализация: что уже работает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543050"/>
            <a:ext cx="5861050" cy="3422650"/>
          </a:xfrm>
          <a:prstGeom prst="roundRect">
            <a:avLst>
              <a:gd name="adj" fmla="val 5936"/>
            </a:avLst>
          </a:prstGeom>
          <a:solidFill>
            <a:srgbClr val="0E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68400" y="1847850"/>
            <a:ext cx="50800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Работает в прототипе</a:t>
            </a:r>
          </a:p>
        </p:txBody>
      </p:sp>
      <p:sp>
        <p:nvSpPr>
          <p:cNvPr id="5" name="Oval 4"/>
          <p:cNvSpPr/>
          <p:nvPr/>
        </p:nvSpPr>
        <p:spPr>
          <a:xfrm>
            <a:off x="1168400" y="2387600"/>
            <a:ext cx="279400" cy="279400"/>
          </a:xfrm>
          <a:prstGeom prst="ellipse">
            <a:avLst/>
          </a:prstGeom>
          <a:solidFill>
            <a:srgbClr val="5A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8400" y="23876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3876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4F7FF"/>
                </a:solidFill>
                <a:latin typeface="Arial"/>
              </a:rPr>
              <a:t>Вход без регистрации и выбор роли</a:t>
            </a:r>
          </a:p>
        </p:txBody>
      </p:sp>
      <p:sp>
        <p:nvSpPr>
          <p:cNvPr id="8" name="Oval 7"/>
          <p:cNvSpPr/>
          <p:nvPr/>
        </p:nvSpPr>
        <p:spPr>
          <a:xfrm>
            <a:off x="1168400" y="2806700"/>
            <a:ext cx="279400" cy="279400"/>
          </a:xfrm>
          <a:prstGeom prst="ellipse">
            <a:avLst/>
          </a:prstGeom>
          <a:solidFill>
            <a:srgbClr val="5A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8400" y="28067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8067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4F7FF"/>
                </a:solidFill>
                <a:latin typeface="Arial"/>
              </a:rPr>
              <a:t>Расписание и отметки приёма</a:t>
            </a:r>
          </a:p>
        </p:txBody>
      </p:sp>
      <p:sp>
        <p:nvSpPr>
          <p:cNvPr id="11" name="Oval 10"/>
          <p:cNvSpPr/>
          <p:nvPr/>
        </p:nvSpPr>
        <p:spPr>
          <a:xfrm>
            <a:off x="1168400" y="3225800"/>
            <a:ext cx="279400" cy="279400"/>
          </a:xfrm>
          <a:prstGeom prst="ellipse">
            <a:avLst/>
          </a:prstGeom>
          <a:solidFill>
            <a:srgbClr val="5A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8400" y="32258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2258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4F7FF"/>
                </a:solidFill>
                <a:latin typeface="Arial"/>
              </a:rPr>
              <a:t>Добавление и правка лекарств</a:t>
            </a:r>
          </a:p>
        </p:txBody>
      </p:sp>
      <p:sp>
        <p:nvSpPr>
          <p:cNvPr id="14" name="Oval 13"/>
          <p:cNvSpPr/>
          <p:nvPr/>
        </p:nvSpPr>
        <p:spPr>
          <a:xfrm>
            <a:off x="1168400" y="3644900"/>
            <a:ext cx="279400" cy="279400"/>
          </a:xfrm>
          <a:prstGeom prst="ellipse">
            <a:avLst/>
          </a:prstGeom>
          <a:solidFill>
            <a:srgbClr val="5A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68400" y="36449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6449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4F7FF"/>
                </a:solidFill>
                <a:latin typeface="Arial"/>
              </a:rPr>
              <a:t>Упражнение на память</a:t>
            </a:r>
          </a:p>
        </p:txBody>
      </p:sp>
      <p:sp>
        <p:nvSpPr>
          <p:cNvPr id="17" name="Oval 16"/>
          <p:cNvSpPr/>
          <p:nvPr/>
        </p:nvSpPr>
        <p:spPr>
          <a:xfrm>
            <a:off x="1168400" y="4064000"/>
            <a:ext cx="279400" cy="279400"/>
          </a:xfrm>
          <a:prstGeom prst="ellipse">
            <a:avLst/>
          </a:prstGeom>
          <a:solidFill>
            <a:srgbClr val="5AA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68400" y="406400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064000"/>
            <a:ext cx="48260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F4F7FF"/>
                </a:solidFill>
                <a:latin typeface="Arial"/>
              </a:rPr>
              <a:t>Открывается по ссылке, данные на устройстве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77050" y="1543050"/>
            <a:ext cx="4502150" cy="3422650"/>
          </a:xfrm>
          <a:prstGeom prst="roundRect">
            <a:avLst>
              <a:gd name="adj" fmla="val 5936"/>
            </a:avLst>
          </a:prstGeom>
          <a:solidFill>
            <a:srgbClr val="FFFFFF"/>
          </a:solidFill>
          <a:ln w="254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32650" y="1847850"/>
            <a:ext cx="3810000" cy="673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6BDB"/>
                </a:solidFill>
                <a:latin typeface="Arial"/>
              </a:rPr>
              <a:t>Проверим на</a:t>
            </a:r>
          </a:p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6BDB"/>
                </a:solidFill>
                <a:latin typeface="Arial"/>
              </a:rPr>
              <a:t>устройстве</a:t>
            </a:r>
          </a:p>
        </p:txBody>
      </p:sp>
      <p:sp>
        <p:nvSpPr>
          <p:cNvPr id="22" name="Oval 21"/>
          <p:cNvSpPr/>
          <p:nvPr/>
        </p:nvSpPr>
        <p:spPr>
          <a:xfrm>
            <a:off x="7232650" y="2724150"/>
            <a:ext cx="279400" cy="279400"/>
          </a:xfrm>
          <a:prstGeom prst="ellipse">
            <a:avLst/>
          </a:prstGeom>
          <a:solidFill>
            <a:srgbClr val="0B6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32650" y="272415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4450" y="2724150"/>
            <a:ext cx="3429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1F3D"/>
                </a:solidFill>
                <a:latin typeface="Arial"/>
              </a:rPr>
              <a:t>Реальные звонки близким</a:t>
            </a:r>
          </a:p>
        </p:txBody>
      </p:sp>
      <p:sp>
        <p:nvSpPr>
          <p:cNvPr id="25" name="Oval 24"/>
          <p:cNvSpPr/>
          <p:nvPr/>
        </p:nvSpPr>
        <p:spPr>
          <a:xfrm>
            <a:off x="7232650" y="3143250"/>
            <a:ext cx="279400" cy="279400"/>
          </a:xfrm>
          <a:prstGeom prst="ellipse">
            <a:avLst/>
          </a:prstGeom>
          <a:solidFill>
            <a:srgbClr val="0B6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32650" y="314325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4450" y="3143250"/>
            <a:ext cx="3429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1F3D"/>
                </a:solidFill>
                <a:latin typeface="Arial"/>
              </a:rPr>
              <a:t>Уведомления близким</a:t>
            </a:r>
          </a:p>
        </p:txBody>
      </p:sp>
      <p:sp>
        <p:nvSpPr>
          <p:cNvPr id="28" name="Oval 27"/>
          <p:cNvSpPr/>
          <p:nvPr/>
        </p:nvSpPr>
        <p:spPr>
          <a:xfrm>
            <a:off x="7232650" y="3562350"/>
            <a:ext cx="279400" cy="279400"/>
          </a:xfrm>
          <a:prstGeom prst="ellipse">
            <a:avLst/>
          </a:prstGeom>
          <a:solidFill>
            <a:srgbClr val="0B6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32650" y="3562350"/>
            <a:ext cx="2794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4450" y="3562350"/>
            <a:ext cx="3429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1F3D"/>
                </a:solidFill>
                <a:latin typeface="Arial"/>
              </a:rPr>
              <a:t>Напоминания при заблокированном телефоне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2800" y="5219700"/>
            <a:ext cx="10566400" cy="6223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5400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17600" y="5219700"/>
            <a:ext cx="9956800" cy="622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E1F3D"/>
                </a:solidFill>
                <a:latin typeface="Arial"/>
              </a:rPr>
              <a:t>Мы чётко разделяем: что показываем в интерфейсе и что ещё нужно проверить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800" y="6248400"/>
            <a:ext cx="5715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A6782"/>
                </a:solidFill>
                <a:latin typeface="Arial"/>
              </a:rPr>
              <a:t>SilverCare · FIZTEX Hackathon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9200" y="62484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5A6782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2800" y="812800"/>
            <a:ext cx="105664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Внедрение: от прототипа к пилоту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543050"/>
            <a:ext cx="9525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8FB8F5"/>
                </a:solidFill>
                <a:latin typeface="Arial"/>
              </a:rPr>
              <a:t>Сможет ли человек подтвердить</a:t>
            </a:r>
          </a:p>
          <a:p>
            <a:pPr algn="l">
              <a:lnSpc>
                <a:spcPct val="100000"/>
              </a:lnSpc>
            </a:pPr>
            <a:r>
              <a:rPr sz="3200" b="1">
                <a:solidFill>
                  <a:srgbClr val="8FB8F5"/>
                </a:solidFill>
                <a:latin typeface="Arial"/>
              </a:rPr>
              <a:t>приём без подсказки?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794000"/>
            <a:ext cx="3384550" cy="2032000"/>
          </a:xfrm>
          <a:prstGeom prst="roundRect">
            <a:avLst>
              <a:gd name="adj" fmla="val 8750"/>
            </a:avLst>
          </a:prstGeom>
          <a:solidFill>
            <a:srgbClr val="17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6800" y="3048000"/>
            <a:ext cx="2921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200">
                <a:solidFill>
                  <a:srgbClr val="8FB8F5"/>
                </a:solidFill>
                <a:latin typeface="Arial"/>
              </a:rPr>
              <a:t>ШАГ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352800"/>
            <a:ext cx="29210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Пилот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835400"/>
            <a:ext cx="28765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C9D8F2"/>
                </a:solidFill>
                <a:latin typeface="Arial"/>
              </a:rPr>
              <a:t>Дать приложение пожилым пользователям и пройти основной сценарий без подсказок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0550" y="2794000"/>
            <a:ext cx="3384550" cy="2032000"/>
          </a:xfrm>
          <a:prstGeom prst="roundRect">
            <a:avLst>
              <a:gd name="adj" fmla="val 8750"/>
            </a:avLst>
          </a:prstGeom>
          <a:solidFill>
            <a:srgbClr val="17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54550" y="3048000"/>
            <a:ext cx="2921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200">
                <a:solidFill>
                  <a:srgbClr val="8FB8F5"/>
                </a:solidFill>
                <a:latin typeface="Arial"/>
              </a:rPr>
              <a:t>ШАГ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550" y="3352800"/>
            <a:ext cx="29210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Измерение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550" y="3835400"/>
            <a:ext cx="28765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C9D8F2"/>
                </a:solidFill>
                <a:latin typeface="Arial"/>
              </a:rPr>
              <a:t>Время действия, потребность в помощи, доля неподтверждённых напоминаний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8300" y="2794000"/>
            <a:ext cx="3384550" cy="2032000"/>
          </a:xfrm>
          <a:prstGeom prst="roundRect">
            <a:avLst>
              <a:gd name="adj" fmla="val 8750"/>
            </a:avLst>
          </a:prstGeom>
          <a:solidFill>
            <a:srgbClr val="17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2300" y="3048000"/>
            <a:ext cx="2921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200">
                <a:solidFill>
                  <a:srgbClr val="8FB8F5"/>
                </a:solidFill>
                <a:latin typeface="Arial"/>
              </a:rPr>
              <a:t>ШАГ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2300" y="3352800"/>
            <a:ext cx="29210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Доработка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2300" y="3835400"/>
            <a:ext cx="28765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C9D8F2"/>
                </a:solidFill>
                <a:latin typeface="Arial"/>
              </a:rPr>
              <a:t>Реальные звонки и уведомления: проверка на устройстве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5397500"/>
            <a:ext cx="10160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9D8F2"/>
                </a:solidFill>
                <a:latin typeface="Arial"/>
              </a:rPr>
              <a:t>Цель — 0% пропусков. Это цель задания, а не доказанный результат: его покажет пилот.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6248400"/>
            <a:ext cx="5715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9DB2D6"/>
                </a:solidFill>
                <a:latin typeface="Arial"/>
              </a:rPr>
              <a:t>SilverCare · FIZTEX Hackathon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9200" y="62484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9DB2D6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921500" y="952500"/>
            <a:ext cx="4699000" cy="4699000"/>
          </a:xfrm>
          <a:prstGeom prst="ellipse">
            <a:avLst/>
          </a:prstGeom>
          <a:solidFill>
            <a:srgbClr val="173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ph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825500"/>
            <a:ext cx="2343150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2800" y="812800"/>
            <a:ext cx="381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spc="200">
                <a:solidFill>
                  <a:srgbClr val="8FB8F5"/>
                </a:solidFill>
                <a:latin typeface="Arial"/>
              </a:rPr>
              <a:t>SILVERCARE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2095500"/>
            <a:ext cx="6477000" cy="292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spc="-100">
                <a:solidFill>
                  <a:srgbClr val="FFFFFF"/>
                </a:solidFill>
                <a:latin typeface="Arial"/>
              </a:rPr>
              <a:t>Нужная информация</a:t>
            </a:r>
          </a:p>
          <a:p>
            <a:pPr algn="l">
              <a:lnSpc>
                <a:spcPct val="100000"/>
              </a:lnSpc>
            </a:pPr>
            <a:r>
              <a:rPr sz="4400" b="1" spc="-100">
                <a:solidFill>
                  <a:srgbClr val="FFFFFF"/>
                </a:solidFill>
                <a:latin typeface="Arial"/>
              </a:rPr>
              <a:t>и понятное действие:</a:t>
            </a:r>
          </a:p>
          <a:p>
            <a:pPr algn="l">
              <a:lnSpc>
                <a:spcPct val="100000"/>
              </a:lnSpc>
            </a:pPr>
            <a:r>
              <a:rPr sz="4400" b="1" spc="-100">
                <a:solidFill>
                  <a:srgbClr val="FFFFFF"/>
                </a:solidFill>
                <a:latin typeface="Arial"/>
              </a:rPr>
              <a:t>на главном экране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5270500"/>
            <a:ext cx="4635500" cy="533400"/>
          </a:xfrm>
          <a:prstGeom prst="roundRect">
            <a:avLst>
              <a:gd name="adj" fmla="val 50000"/>
            </a:avLst>
          </a:prstGeom>
          <a:solidFill>
            <a:srgbClr val="8FB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2800" y="5270500"/>
            <a:ext cx="46355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E1F3D"/>
                </a:solidFill>
                <a:latin typeface="Arial"/>
              </a:rPr>
              <a:t>silvercaremedicine.vercel.app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4635500"/>
            <a:ext cx="57150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C9D8F2"/>
                </a:solidFill>
                <a:latin typeface="Arial"/>
              </a:rPr>
              <a:t>Спасибо! Готовы к вопросам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896</Words>
  <Application>Microsoft Office PowerPoint</Application>
  <PresentationFormat>Широкоэкранный</PresentationFormat>
  <Paragraphs>106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Ruslan Tursunbayev</cp:lastModifiedBy>
  <cp:revision>2</cp:revision>
  <dcterms:created xsi:type="dcterms:W3CDTF">2013-01-27T09:14:16Z</dcterms:created>
  <dcterms:modified xsi:type="dcterms:W3CDTF">2026-09-20T06:40:39Z</dcterms:modified>
  <cp:category/>
</cp:coreProperties>
</file>